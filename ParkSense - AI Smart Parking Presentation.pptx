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Space Grotesk"/>
      <ns0:bold ns1:id="rIdFont18"/>
    </ns0:embeddedFon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da3beaac-bbff-4988-8036-ed14f9915d14.fntdata" /><ns0:Relationship Id="rIdFont19" Type="http://schemas.openxmlformats.org/officeDocument/2006/relationships/font" Target="fonts/98d4b0fc-b072-4c82-83ab-373c5871462e.fntdata" /><ns0:Relationship Id="rIdFont20" Type="http://schemas.openxmlformats.org/officeDocument/2006/relationships/font" Target="fonts/cfcf4a60-abdb-434b-8ae5-807c29ab801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76437"/>
            <a:ext cx="2914650" cy="342900"/>
          </a:xfrm>
          <a:prstGeom prst="roundRect">
            <a:avLst>
              <a:gd name="adj" fmla="val 50000"/>
            </a:avLst>
          </a:prstGeom>
          <a:solidFill>
            <a:srgbClr val="102350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57662"/>
            <a:ext cx="6297959" cy="723900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59" y="1571625"/>
            <a:ext cx="4217640" cy="3714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84" y="1581150"/>
            <a:ext cx="4198590" cy="3695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71687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509837"/>
            <a:ext cx="3775471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b="1" sz="4500" i="0" u="none">
                <a:solidFill>
                  <a:srgbClr val="FFFFFF"/>
                </a:solidFill>
                <a:latin typeface="Space Grotesk"/>
              </a:rPr>
              <a:t>ParkSense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71837"/>
            <a:ext cx="6036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AI-Powered Smart Parking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52837"/>
            <a:ext cx="4595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Smart Parking • Intelligent Allocation • AI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062162"/>
            <a:ext cx="295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COLLEGE HACKATHON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338637"/>
            <a:ext cx="1428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TEAM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519612"/>
            <a:ext cx="1428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Team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5542" y="4338637"/>
            <a:ext cx="1333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5542" y="4519612"/>
            <a:ext cx="1333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Core Dev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8110" y="4338637"/>
            <a:ext cx="22264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HACKATHON &amp; 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110" y="4519612"/>
            <a:ext cx="2226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0B981"/>
                </a:solidFill>
                <a:latin typeface="Plus Jakarta Sans"/>
              </a:rPr>
              <a:t>National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85975"/>
            <a:ext cx="6366569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38475"/>
            <a:ext cx="6366569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0975"/>
            <a:ext cx="6366569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43475"/>
            <a:ext cx="6366569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085975"/>
            <a:ext cx="57150" cy="800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38475"/>
            <a:ext cx="57150" cy="800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990975"/>
            <a:ext cx="57150" cy="800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943475"/>
            <a:ext cx="57150" cy="800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069" y="2105025"/>
            <a:ext cx="4263330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594" y="2114550"/>
            <a:ext cx="20383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371725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324225"/>
            <a:ext cx="2857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4276725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5229225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URBAN MOBILITY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Parking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50" y="2276475"/>
            <a:ext cx="561320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Wasted Drivers'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50" y="2514600"/>
            <a:ext cx="5345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Drivers spend 15+ minutes endlessly searching for vacant slots.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3228975"/>
            <a:ext cx="55256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Peak Hours Congestion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3467100"/>
            <a:ext cx="5262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Parking bottlenecks cause 30% of total inner-city traffic jams.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4181475"/>
            <a:ext cx="55256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Inefficient Slot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4925" y="4419600"/>
            <a:ext cx="5262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Vacant spaces remain hidden due to lack of real-time visibility.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5133975"/>
            <a:ext cx="58882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Delayed Emergency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372100"/>
            <a:ext cx="5607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Emergency &amp; VIP vehicles face zero priority allocation guarantees.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62350"/>
            <a:ext cx="3126134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50034" y="3562350"/>
            <a:ext cx="3126134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29100"/>
            <a:ext cx="3126134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50034" y="4229100"/>
            <a:ext cx="3126134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895850"/>
            <a:ext cx="3126134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50034" y="4895850"/>
            <a:ext cx="3126134" cy="552450"/>
          </a:xfrm>
          <a:prstGeom prst="roundRect">
            <a:avLst>
              <a:gd name="adj" fmla="val 17241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575" y="3705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31009" y="3705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0575" y="4371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1009" y="4371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575" y="5038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21484" y="5038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069" y="2890837"/>
            <a:ext cx="4263330" cy="2857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594" y="2900362"/>
            <a:ext cx="4244280" cy="2838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THE PARKSENSE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Intelligent Parking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32171" y="1571625"/>
            <a:ext cx="12656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4ED8"/>
                </a:solidFill>
                <a:latin typeface="Plus Jakarta Sans"/>
              </a:rPr>
              <a:t>“ParkSense combines AI, algorithms, and web technology to make parking faster and smarter.”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190875"/>
            <a:ext cx="795821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Automated System Workflow: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370522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575" y="3748087"/>
            <a:ext cx="1750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Vehicle Registration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134" y="370522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2009" y="3748087"/>
            <a:ext cx="13049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Priority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43719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1575" y="4414837"/>
            <a:ext cx="1869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Smart Slot Allocation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134" y="43719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2009" y="4414837"/>
            <a:ext cx="188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Parking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503872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1575" y="5081587"/>
            <a:ext cx="1785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Entry &amp; Exit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609" y="503872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2484" y="5081587"/>
            <a:ext cx="1666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AI Analytics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28800"/>
            <a:ext cx="3530500" cy="1676400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1828800"/>
            <a:ext cx="3530649" cy="1676400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828800"/>
            <a:ext cx="3530500" cy="1676400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52925"/>
            <a:ext cx="3530500" cy="1676400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4352925"/>
            <a:ext cx="3530649" cy="1676400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4343400"/>
            <a:ext cx="35305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50" y="20669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51" y="20669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400" y="206692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6250" y="459105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251" y="459105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8400" y="459105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9600" y="2200275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6788" y="2200275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1750" y="2200275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9600" y="472440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4413" y="4724400"/>
            <a:ext cx="1428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1750" y="4724400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USER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How ParkSense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943" y="2657475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498" y="2838450"/>
            <a:ext cx="40087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Enter Vehicle 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943" y="3095625"/>
            <a:ext cx="38178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Input plate details.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6925" y="2657475"/>
            <a:ext cx="38179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1475" y="2838450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Select Vehicle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6925" y="3095625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Sedan, SUV, or EV.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8094" y="2657475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2648" y="2838450"/>
            <a:ext cx="40087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Select Priority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8094" y="3095625"/>
            <a:ext cx="38178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Normal, VIP, Emergency.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943" y="5181600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498" y="5362575"/>
            <a:ext cx="40087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Join Parking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943" y="5619750"/>
            <a:ext cx="38178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Automated min-heap queue.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6925" y="5181600"/>
            <a:ext cx="38179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STEP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1475" y="5362575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Find Best Slot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6925" y="561975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Greedy slot allocation.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000" y="5181600"/>
            <a:ext cx="3794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STEP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5150" y="5362575"/>
            <a:ext cx="398370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Confirm Parking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0000" y="5619750"/>
            <a:ext cx="379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Instant digital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66850"/>
            <a:ext cx="2386012" cy="1314450"/>
          </a:xfrm>
          <a:prstGeom prst="roundRect">
            <a:avLst>
              <a:gd name="adj" fmla="val 10144"/>
            </a:avLst>
          </a:prstGeom>
          <a:solidFill>
            <a:srgbClr val="F8FAFC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1862" y="1466850"/>
            <a:ext cx="2386012" cy="1314450"/>
          </a:xfrm>
          <a:prstGeom prst="roundRect">
            <a:avLst>
              <a:gd name="adj" fmla="val 10144"/>
            </a:avLst>
          </a:prstGeom>
          <a:solidFill>
            <a:srgbClr val="F8FAFC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4125" y="1466850"/>
            <a:ext cx="2386012" cy="1314450"/>
          </a:xfrm>
          <a:prstGeom prst="roundRect">
            <a:avLst>
              <a:gd name="adj" fmla="val 10144"/>
            </a:avLst>
          </a:prstGeom>
          <a:solidFill>
            <a:srgbClr val="F8FAF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96387" y="1543050"/>
            <a:ext cx="2386012" cy="1162050"/>
          </a:xfrm>
          <a:prstGeom prst="roundRect">
            <a:avLst>
              <a:gd name="adj" fmla="val 11475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24200"/>
            <a:ext cx="57150" cy="800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12081" y="1695450"/>
            <a:ext cx="781050" cy="2000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36243" y="1695450"/>
            <a:ext cx="857250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08031" y="1695450"/>
            <a:ext cx="838200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32181" y="1771650"/>
            <a:ext cx="1114425" cy="2000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202882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2028825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537" y="2028825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3409950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CORE LOGIC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Intelligent Slot Allocation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875" y="3314700"/>
            <a:ext cx="101250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3A8A"/>
                </a:solidFill>
                <a:latin typeface="Plus Jakarta Sans"/>
              </a:rPr>
              <a:t>Greedy Algorithm Execution:</a:t>
            </a:r>
            <a:r>
              <a:rPr b="0" sz="1275" i="0" u="none">
                <a:solidFill>
                  <a:srgbClr val="1E3A8A"/>
                </a:solidFill>
                <a:latin typeface="Plus Jakarta Sans"/>
              </a:rPr>
              <a:t> Evaluates slot distance vectors in real-time and assigns the single most suitable vacant space in sub-millisecond speeds.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4456" y="1733550"/>
            <a:ext cx="876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1D4ED8"/>
                </a:solidFill>
                <a:latin typeface="Plus Jakarta Sans"/>
              </a:rPr>
              <a:t>INPUT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819" y="1971675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Vehicle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285" y="2266950"/>
            <a:ext cx="24586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Vehicle No. • Size • Priority • EV 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8618" y="1733550"/>
            <a:ext cx="9525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D28D9"/>
                </a:solidFill>
                <a:latin typeface="Plus Jakarta Sans"/>
              </a:rPr>
              <a:t>FILTER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082" y="1971675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Slot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5548" y="2266950"/>
            <a:ext cx="24586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Available Slots • Dimension Match • Charging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0406" y="1733550"/>
            <a:ext cx="9334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B45309"/>
                </a:solidFill>
                <a:latin typeface="Plus Jakarta Sans"/>
              </a:rPr>
              <a:t>RANK 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344" y="1971675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Distance &amp; 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810" y="2266950"/>
            <a:ext cx="24586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Gate Proximity • Rank Score • Suitability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556" y="1809750"/>
            <a:ext cx="12096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47857"/>
                </a:solidFill>
                <a:latin typeface="Plus Jakarta Sans"/>
              </a:rPr>
              <a:t>OPTIMAL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607" y="2047875"/>
            <a:ext cx="25815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Best Slot Assigned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0073" y="2343150"/>
            <a:ext cx="245864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47857"/>
                </a:solidFill>
                <a:latin typeface="Plus Jakarta Sans"/>
              </a:rPr>
              <a:t>Lowest Cost • Instant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12143"/>
            <a:ext cx="53721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907381"/>
            <a:ext cx="5372100" cy="1457325"/>
          </a:xfrm>
          <a:prstGeom prst="roundRect">
            <a:avLst>
              <a:gd name="adj" fmla="val 104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74368"/>
            <a:ext cx="53721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474368"/>
            <a:ext cx="53721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188368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183606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750593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750593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2331243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112" y="2326481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4893468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112" y="4893468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CORE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Algorithms Behind ParkSense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2188368"/>
            <a:ext cx="54256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Greedy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2474118"/>
            <a:ext cx="5167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Optimal Slot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2721768"/>
            <a:ext cx="4229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Selects the nearest matching available parking slot instantaneously.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2325" y="2183606"/>
            <a:ext cx="5019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Priority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2325" y="2469356"/>
            <a:ext cx="5019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Min-Heap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2325" y="2717006"/>
            <a:ext cx="42291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Processes Emergency ➔ VIP ➔ Normal vehicles with priority efficiency.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1625" y="4750593"/>
            <a:ext cx="54256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Binary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5036343"/>
            <a:ext cx="5167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O(log N) Fast 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1625" y="5283993"/>
            <a:ext cx="4229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Enables sub-millisecond slot queries across multi-floor garages.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2325" y="4750593"/>
            <a:ext cx="5019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Sorting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2325" y="5036343"/>
            <a:ext cx="5019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Proximity Ranking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2325" y="5283993"/>
            <a:ext cx="4229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Ranks open slots dynamically based on distance, EV needs, and vehicle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82150" y="657225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95512"/>
            <a:ext cx="6576119" cy="3343275"/>
          </a:xfrm>
          <a:prstGeom prst="roundRect">
            <a:avLst>
              <a:gd name="adj" fmla="val 45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66719" y="2557462"/>
            <a:ext cx="4015680" cy="771525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6719" y="3481387"/>
            <a:ext cx="4015680" cy="771525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66719" y="4405312"/>
            <a:ext cx="4015680" cy="771525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052762"/>
            <a:ext cx="6023669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3471862"/>
            <a:ext cx="6023669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3890962"/>
            <a:ext cx="6023669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5825" y="4310062"/>
            <a:ext cx="6023669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5825" y="4729162"/>
            <a:ext cx="6023669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5825" y="5148262"/>
            <a:ext cx="6023669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5825" y="3052762"/>
            <a:ext cx="2108150" cy="114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825" y="3471862"/>
            <a:ext cx="2529929" cy="114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825" y="3890962"/>
            <a:ext cx="3011834" cy="114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825" y="4310062"/>
            <a:ext cx="3674417" cy="114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5825" y="4729162"/>
            <a:ext cx="4337000" cy="1143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825" y="5148262"/>
            <a:ext cx="5059858" cy="1143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5" y="752475"/>
            <a:ext cx="1714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95300"/>
            <a:ext cx="628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PREDICTIVE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66008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AI-Powered Parking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0775" y="742950"/>
            <a:ext cx="1738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47857"/>
                </a:solidFill>
                <a:latin typeface="Plus Jakarta Sans"/>
              </a:rPr>
              <a:t>AI Prediction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471737"/>
            <a:ext cx="752958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Hourly Parking Demand Curve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7694" y="2738437"/>
            <a:ext cx="44443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Space Grotesk"/>
              </a:rPr>
              <a:t>Expected Peak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7694" y="2976562"/>
            <a:ext cx="444430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Predicts rush spikes between 4 PM – 6 PM.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7694" y="3662362"/>
            <a:ext cx="44443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Space Grotesk"/>
              </a:rPr>
              <a:t>Occupancy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7694" y="3900487"/>
            <a:ext cx="444430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Uses historical parking data to forecast load.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7694" y="4586287"/>
            <a:ext cx="44443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Space Grotesk"/>
              </a:rPr>
              <a:t>EV Demand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7694" y="4824412"/>
            <a:ext cx="444430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Schedules charging station slot availability.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2862262"/>
            <a:ext cx="61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12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3744" y="2862262"/>
            <a:ext cx="57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3281362"/>
            <a:ext cx="5429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1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4219" y="3281362"/>
            <a:ext cx="581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42%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" y="3700462"/>
            <a:ext cx="57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2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4219" y="3700462"/>
            <a:ext cx="581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4119562"/>
            <a:ext cx="57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3 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2319" y="4119562"/>
            <a:ext cx="5429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61%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" y="4538662"/>
            <a:ext cx="581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4 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3269" y="4538662"/>
            <a:ext cx="5619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72%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825" y="4957762"/>
            <a:ext cx="1009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5 PM (PEAK)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4219" y="4957762"/>
            <a:ext cx="581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84%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2364581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9006" y="2947987"/>
            <a:ext cx="2364581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48412" y="2947987"/>
            <a:ext cx="2364581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17818" y="2947987"/>
            <a:ext cx="2364581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681" y="3819525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819525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3819525"/>
            <a:ext cx="1238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390" y="322421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609" y="3224212"/>
            <a:ext cx="33337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203" y="3224212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421" y="3224212"/>
            <a:ext cx="333375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058" y="3757612"/>
            <a:ext cx="245566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666" y="3938587"/>
            <a:ext cx="257844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React.js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058" y="4262437"/>
            <a:ext cx="245566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TypeScript + Tailwind CSS responsive interface.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3464" y="3757612"/>
            <a:ext cx="245566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2073" y="3938587"/>
            <a:ext cx="257844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Python Flask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3464" y="4262437"/>
            <a:ext cx="245566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RESTful APIs &amp; algorithm execution 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2871" y="3757612"/>
            <a:ext cx="245566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AI / ML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1479" y="3938587"/>
            <a:ext cx="257844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Python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2871" y="4262437"/>
            <a:ext cx="245566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Predictive demand models &amp; pattern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2277" y="3757612"/>
            <a:ext cx="245566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0885" y="3938587"/>
            <a:ext cx="257844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Relational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2277" y="4262437"/>
            <a:ext cx="245566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Structured vehicle logs &amp; slot state cache.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66925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066925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066925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066925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6101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0900" y="46101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46101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0" y="46101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26695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762" y="2266950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2" y="2266950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362" y="2266950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4810125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481012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2350" y="481012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9362" y="4810125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LIVE INTERFACE SHOWCASE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ParkSense Web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360" y="259080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Live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93" y="2828925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Real-time occupancy gauge.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2660" y="259080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Vehicle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693" y="2828925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Instant form entry.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3960" y="259080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Priority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5993" y="2828925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Emergency &amp; VIP prioritization.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5260" y="259080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Parking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7293" y="2828925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2D interactive grid 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360" y="51339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Smart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393" y="5372100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Greedy algorithm matching.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2660" y="51339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AI 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693" y="5372100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Peak hour trend forecasting.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3960" y="51339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Parking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5993" y="5372100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Entry/Exit log records.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5260" y="5133975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7293" y="5372100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Revenue &amp; turnover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95925"/>
            <a:ext cx="10972800" cy="866775"/>
          </a:xfrm>
          <a:prstGeom prst="roundRect">
            <a:avLst>
              <a:gd name="adj" fmla="val 15384"/>
            </a:avLst>
          </a:prstGeom>
          <a:solidFill>
            <a:srgbClr val="0F1F46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0750" y="5724525"/>
            <a:ext cx="1457325" cy="409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466850"/>
            <a:ext cx="5334000" cy="201930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1466850"/>
            <a:ext cx="5334000" cy="201930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7165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77165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171700"/>
            <a:ext cx="10477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466975"/>
            <a:ext cx="10477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762250"/>
            <a:ext cx="1047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057525"/>
            <a:ext cx="1047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171700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466975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762250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057525"/>
            <a:ext cx="10477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ROADMAP &amp;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Future of Smart Parking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7450" y="5838825"/>
            <a:ext cx="10191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Q&amp;A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5695950"/>
            <a:ext cx="526315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Space Grotesk"/>
              </a:rPr>
              <a:t>ParkSense – Park Smarter. Move Faster.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5981700"/>
            <a:ext cx="5012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Thank You for Your Time &amp; Consideration!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" y="1743075"/>
            <a:ext cx="22502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Real-World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2143125"/>
            <a:ext cx="579596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Less time searching for parking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2438400"/>
            <a:ext cx="579596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Reduced urban traffic congestion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2733675"/>
            <a:ext cx="579596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Optimal slot capacity 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3028950"/>
            <a:ext cx="5795962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Instant emergency vehicle clearance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0375" y="1743075"/>
            <a:ext cx="16252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2143125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IoT sensors &amp; ANPR camera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0" y="2438400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Real-time mobile push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600" y="2733675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Live city navigation &amp; traffic API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3028950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Full native Mobile App &amp; EV grid balancing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47750"/>
            <a:ext cx="9977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https://cdn.prod.website-files.com/69e267c13d88fc064848e671/69e62912b2fc282aba325aa5_from-depot-to-public-fleets.webp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47775"/>
            <a:ext cx="182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dynachrg.ai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19275"/>
            <a:ext cx="8322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http://www.pandemictechnews.com/wp-content/uploads/2021/04/AdobeStock_35052454-parking-lot.jpeg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19300"/>
            <a:ext cx="3559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www.pandemictechnews.com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90800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https://psiborg.in/wp-content/uploads/2024/01/parking-IoT-system.webp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90825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psiborg.in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